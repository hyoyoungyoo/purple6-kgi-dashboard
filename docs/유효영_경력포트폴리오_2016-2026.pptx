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164592" y="2377440"/>
            <a:ext cx="365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MARKETING PORTFOLIO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1280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1000" kern="0" dirty="0">
                <a:solidFill>
                  <a:srgbClr val="FFFFFF"/>
                </a:solidFill>
              </a:rPr>
              <a:t>유 효 영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3749040" y="2697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0A500"/>
                </a:solidFill>
              </a:rPr>
              <a:t>Marketing Director  |  2016 –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3291840"/>
            <a:ext cx="7772400" cy="0"/>
          </a:xfrm>
          <a:prstGeom prst="line">
            <a:avLst/>
          </a:prstGeom>
          <a:noFill/>
          <a:ln w="10160">
            <a:solidFill>
              <a:srgbClr val="8896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3474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8ECF4"/>
                </a:solidFill>
              </a:rPr>
              <a:t>브랜드 인지에서 실질적 영업 기회 창출까지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8ECF4"/>
                </a:solidFill>
              </a:rPr>
              <a:t>퍼시스 그룹 3개 브랜드 통합 마케팅 총괄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0" y="4937760"/>
            <a:ext cx="1828800" cy="41148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4937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퍼시스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4937760"/>
            <a:ext cx="1828800" cy="41148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4937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데스커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4937760"/>
            <a:ext cx="1828800" cy="41148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4937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퍼플식스 스튜디오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</a:rPr>
              <a:t>20년 통합 마케팅 전문가  |  B2B·B2C 브랜드 캠페인  |  CRM·SEO·공간 마케팅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CAREER TIMELINE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16459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0A500"/>
                </a:solidFill>
              </a:rPr>
              <a:t>2007 –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64592" cy="68580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88720"/>
            <a:ext cx="1463040" cy="34747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2007–2010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1887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레오버넷 코리아  ·  기획팀 AE·대리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153619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디아지오(Johnnie Walker), GM Korea, P&amp;G 위스퍼 — 글로벌 브랜드 국내 마케팅 대행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164592" cy="685800"/>
          </a:xfrm>
          <a:prstGeom prst="rect">
            <a:avLst/>
          </a:prstGeom>
          <a:solidFill>
            <a:srgbClr val="2D7D7D"/>
          </a:solidFill>
          <a:ln w="12700">
            <a:solidFill>
              <a:srgbClr val="2D7D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057400"/>
            <a:ext cx="1463040" cy="347472"/>
          </a:xfrm>
          <a:prstGeom prst="rect">
            <a:avLst/>
          </a:prstGeom>
          <a:solidFill>
            <a:srgbClr val="2D7D7D"/>
          </a:solidFill>
          <a:ln w="12700">
            <a:solidFill>
              <a:srgbClr val="2D7D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574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2011–2016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05740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이노션  ·  스페이스 마케팅팀 차장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40487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현대 모터스튜디오 서울·디지털·고양 기획·운영 총괄 — 누적 방문객 20만 명 돌파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164592" cy="68580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926080"/>
            <a:ext cx="1463040" cy="347472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26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2016–2023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92608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퍼시스  ·  마케팅팀장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327355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브랜드 캠페인 M/S 67% · TOM 29% 달성 / CRM 구축 잠재고객 13,000건 / 커뮤니티오피스 유입 139만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94760"/>
            <a:ext cx="164592" cy="6858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794760"/>
            <a:ext cx="1463040" cy="34747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94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2024–2025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37947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데스커 (일룸)  ·  마케팅팀장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4560" y="414223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매출 126%↑ · SEO 광고비 70% 절감 · 오가닉 유입 71%↑ / 라운지 재방문율 50%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164592" cy="6858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663440"/>
            <a:ext cx="1463040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6634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2025–현재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46634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퍼플식스 스튜디오  ·  브랜드관리팀장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94560" y="501091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유튜브 조회수 111만 · B2B 리드 400건 · 뉴스레터 MQL 2,000명 확보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5623560"/>
            <a:ext cx="1133856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623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사무가구 M/S  67%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33472" y="5760720"/>
            <a:ext cx="0" cy="548640"/>
          </a:xfrm>
          <a:prstGeom prst="line">
            <a:avLst/>
          </a:prstGeom>
          <a:noFill/>
          <a:ln w="6350">
            <a:solidFill>
              <a:srgbClr val="8896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33472" y="5623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잠재고객 파이프라인  13,000건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01184" y="5760720"/>
            <a:ext cx="0" cy="548640"/>
          </a:xfrm>
          <a:prstGeom prst="line">
            <a:avLst/>
          </a:prstGeom>
          <a:noFill/>
          <a:ln w="6350">
            <a:solidFill>
              <a:srgbClr val="8896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5623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SEO 광고비 절감  70%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68896" y="5760720"/>
            <a:ext cx="0" cy="548640"/>
          </a:xfrm>
          <a:prstGeom prst="line">
            <a:avLst/>
          </a:prstGeom>
          <a:noFill/>
          <a:ln w="6350">
            <a:solidFill>
              <a:srgbClr val="8896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8896" y="5623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매출  126%↑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436608" y="5760720"/>
            <a:ext cx="0" cy="548640"/>
          </a:xfrm>
          <a:prstGeom prst="line">
            <a:avLst/>
          </a:prstGeom>
          <a:noFill/>
          <a:ln w="6350">
            <a:solidFill>
              <a:srgbClr val="8896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36608" y="5623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B2B 리드  400건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91440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</a:rPr>
              <a:t>퍼시스 마케팅팀  |  2017–2021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브랜드 캠페인 '사무환경이 문화를 만듭니다'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1338560" cy="5943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⚡ 배경  |  브랜드 인지도는 있으나 'B2B 사무가구 = 퍼시스'라는 카테고리 리더십 부재. C-Level 타겟에게 사무환경의 전략적 가치를 알려야 했음.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28800"/>
            <a:ext cx="3657600" cy="45720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메시지 전략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사무환경이 기업 문화를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만든다는 C-Level 관점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캠페인 메시지 도출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8288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828800"/>
            <a:ext cx="3657600" cy="45720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매체 전략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조선일보·포브스·DBR·HBR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등 C-Level 타겟 매체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집중 홍보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828800"/>
            <a:ext cx="3657600" cy="45720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세미나·PR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사무환경 세미나, 산학 연구,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본사 쇼룸 PR 통해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리딩 브랜드 이미지 구축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297680"/>
            <a:ext cx="11338560" cy="41148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97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캠페인 성과 (2021 기준)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800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920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4A9C"/>
                </a:solidFill>
              </a:rPr>
              <a:t>67%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74320" y="5577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사무가구 M/S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4800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48920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4A9C"/>
                </a:solidFill>
              </a:rPr>
              <a:t>29%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108960" y="5577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직장인 TOM (비보조)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4800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48920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4A9C"/>
                </a:solidFill>
              </a:rPr>
              <a:t>30%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943600" y="5577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구매담당자 TOM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78240" y="4800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48920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4A9C"/>
                </a:solidFill>
              </a:rPr>
              <a:t>5년 (2017–2021)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778240" y="5577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캠페인 기간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91440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</a:rPr>
              <a:t>퍼시스 마케팅팀  |  2022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B2B 마케팅 리드젠 프로세스 최초 구축 — Salesforce CRM 도입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1338560" cy="5943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⚡ 배경  |  브랜드 인지는 높지만 마케팅이 영업 파이프라인으로 연결되지 않는 구조. B2B 인하우스 최초로 CRM 기반 인사이드 영업 마케팅 체계를 설계.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874520"/>
            <a:ext cx="9144000" cy="749808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87452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콘텐츠 유입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187452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오피스 인사이트</a:t>
            </a:r>
            <a:endParaRPr lang="en-US" sz="11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뉴스레터 런칭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2788920"/>
            <a:ext cx="7863840" cy="74980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278892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잠재고객 전환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78892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트렌드 리포트 다운로드</a:t>
            </a:r>
            <a:endParaRPr lang="en-US" sz="11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4,438건 / 잠재고객 3,596명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3703320"/>
            <a:ext cx="6583680" cy="749808"/>
          </a:xfrm>
          <a:prstGeom prst="rect">
            <a:avLst/>
          </a:prstGeom>
          <a:solidFill>
            <a:srgbClr val="2D7D7D"/>
          </a:solidFill>
          <a:ln w="12700">
            <a:solidFill>
              <a:srgbClr val="2D7D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70332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MQL 육성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70332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뉴스레터 구독자 8,000명</a:t>
            </a:r>
            <a:endParaRPr lang="en-US" sz="11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오픈율 30% 이상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4617720"/>
            <a:ext cx="5303520" cy="7498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461772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SQL / 영업 기회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461772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세일즈포스 기반 고객 데이터</a:t>
            </a:r>
            <a:endParaRPr lang="en-US" sz="11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분석 → 영업기회 발굴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5669280"/>
            <a:ext cx="11338560" cy="41148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669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성과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6172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4A9C"/>
                </a:solidFill>
              </a:rPr>
              <a:t>13,000건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5760" y="6583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잠재고객 파이프라인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6172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4A9C"/>
                </a:solidFill>
              </a:rPr>
              <a:t>4,438 다운로드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200400" y="6583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트렌드 리포트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6172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4A9C"/>
                </a:solidFill>
              </a:rPr>
              <a:t>8,000명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035040" y="6583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뉴스레터 구독자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9680" y="6172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4A9C"/>
                </a:solidFill>
              </a:rPr>
              <a:t>30%+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869680" y="6583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뉴스레터 오픈율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91440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</a:rPr>
              <a:t>퍼시스 마케팅팀  |  2023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공간 마케팅 캠페인 — '커뮤니티 오피스'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1338560" cy="5943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⚡ 배경  |  뉴노멀 시대, 오피스의 역할 재정의가 필요한 시점. 단순 가구 전시가 아닌 '체험형 브랜드 공간'을 캠페인 채널로 전환.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28800"/>
            <a:ext cx="2651760" cy="457200"/>
          </a:xfrm>
          <a:prstGeom prst="rect">
            <a:avLst/>
          </a:prstGeom>
          <a:solidFill>
            <a:srgbClr val="2D7D7D"/>
          </a:solidFill>
          <a:ln w="12700">
            <a:solidFill>
              <a:srgbClr val="2D7D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오프라인 공간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파크원 빌딩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체험형 쇼룸 운영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월 평균 380명 방문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182880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828800"/>
            <a:ext cx="2651760" cy="457200"/>
          </a:xfrm>
          <a:prstGeom prst="rect">
            <a:avLst/>
          </a:prstGeom>
          <a:solidFill>
            <a:srgbClr val="2D7D7D"/>
          </a:solidFill>
          <a:ln w="12700">
            <a:solidFill>
              <a:srgbClr val="2D7D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디지털 캠페인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23774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캠페인 사이트 유입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1,399,947회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네이버 예약 4만 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182880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828800"/>
            <a:ext cx="2651760" cy="457200"/>
          </a:xfrm>
          <a:prstGeom prst="rect">
            <a:avLst/>
          </a:prstGeom>
          <a:solidFill>
            <a:srgbClr val="2D7D7D"/>
          </a:solidFill>
          <a:ln w="12700">
            <a:solidFill>
              <a:srgbClr val="2D7D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CRM 연계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23774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방문객 → MQL 전환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뉴스레터 구독자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+1,338명 확보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78240" y="182880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1828800"/>
            <a:ext cx="2651760" cy="457200"/>
          </a:xfrm>
          <a:prstGeom prst="rect">
            <a:avLst/>
          </a:prstGeom>
          <a:solidFill>
            <a:srgbClr val="2D7D7D"/>
          </a:solidFill>
          <a:ln w="12700">
            <a:solidFill>
              <a:srgbClr val="2D7D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브랜드 인지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23774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TOM 목표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26% → 40%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(24년 1Q 목표)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937760"/>
            <a:ext cx="11338560" cy="411480"/>
          </a:xfrm>
          <a:prstGeom prst="rect">
            <a:avLst/>
          </a:prstGeom>
          <a:solidFill>
            <a:srgbClr val="2D7D7D"/>
          </a:solidFill>
          <a:ln w="12700">
            <a:solidFill>
              <a:srgbClr val="2D7D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37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캠페인 통합 성과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캠페인 사이트 유입 139만 회  ·  월 방문객 380명  ·  뉴스레터 신규 1,338명  ·  목표 TOM 40% (달성 추진)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9144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</a:rPr>
              <a:t>데스커 마케팅팀  |  2024–2025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브랜드 캠페인 — '모두를 움직일 가능성' / '나는 내가 좋아하는 일을 한다'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1338560" cy="5943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⚡ 배경  |  모션데스크 카테고리 성장을 주도하면서 브랜드 팬덤을 만들어야 하는 이중 과제. 제품 타겟과 브랜드 메시지를 일치시켜 매출과 인지를 동시 달성.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28800"/>
            <a:ext cx="356616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28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모션데스크 캠페인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3200400" cy="64008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14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네이버 검색 쿼리  +30%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3200400" cy="64008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매출 전년 동기 대비  +20%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3200400" cy="64008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60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핵심 매체 전략 + 인플루언서 마케팅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69080" y="182880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9080" y="1828800"/>
            <a:ext cx="3566160" cy="50292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1828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책상세트 성수기 캠페인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2514600"/>
            <a:ext cx="3200400" cy="64008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514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전년 대비 매출  126%↑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51960" y="3337560"/>
            <a:ext cx="3200400" cy="64008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3337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온라인 언급량  126%↑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51960" y="4160520"/>
            <a:ext cx="3200400" cy="64008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4160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커뮤니티 바이럴량  365%↑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63840" y="182880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1828800"/>
            <a:ext cx="3566160" cy="502920"/>
          </a:xfrm>
          <a:prstGeom prst="rect">
            <a:avLst/>
          </a:prstGeom>
          <a:solidFill>
            <a:srgbClr val="2D7D7D"/>
          </a:solidFill>
          <a:ln w="12700">
            <a:solidFill>
              <a:srgbClr val="2D7D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828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철학 캠페인 '나는…'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2514600"/>
            <a:ext cx="3200400" cy="64008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2514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브랜드 연관 '사랑하다' 키워드 최초 등장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3337560"/>
            <a:ext cx="3200400" cy="64008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3337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공식몰 신규 회원가입 증가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46720" y="4160520"/>
            <a:ext cx="3200400" cy="64008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4160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'데스커' 구글 쿼리 지속 상승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5806440"/>
            <a:ext cx="11338560" cy="4572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매출 성장 + 브랜드 팬덤 동시 달성  |  SNS 자발적 UGC 다수 생성  |  브랜드 연상 키워드 질적 향상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9144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</a:rPr>
              <a:t>데스커 마케팅팀  |  2024–2025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SEO 최적화 + 브랜드 스페이스 — 효율화와 팬덤 구축의 두 트랙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4864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5486400" cy="4572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SEO 기반 디지털 마케팅 구조 전환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4FCF"/>
                </a:solidFill>
              </a:rPr>
              <a:t>+43%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전체 유입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5120640" cy="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4FCF"/>
                </a:solidFill>
              </a:rPr>
              <a:t>+71%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오가닉 유입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30752"/>
            <a:ext cx="5120640" cy="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49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4FCF"/>
                </a:solidFill>
              </a:rPr>
              <a:t>+22%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전환율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36592"/>
            <a:ext cx="5120640" cy="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548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4FCF"/>
                </a:solidFill>
              </a:rPr>
              <a:t>70% 절감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온라인 광고비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54864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097280"/>
            <a:ext cx="5486400" cy="457200"/>
          </a:xfrm>
          <a:prstGeom prst="rect">
            <a:avLst/>
          </a:prstGeom>
          <a:solidFill>
            <a:srgbClr val="2D7D7D"/>
          </a:solidFill>
          <a:ln w="12700">
            <a:solidFill>
              <a:srgbClr val="2D7D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097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🏠  데스커 라운지 홍대·대구 공간 마케팅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17373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7D7D"/>
                </a:solidFill>
              </a:rPr>
              <a:t>50%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재방문율 (1년)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724912"/>
            <a:ext cx="5120640" cy="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743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7D7D"/>
                </a:solidFill>
              </a:rPr>
              <a:t>1,000건+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0936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자발적 후기 콘텐츠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730752"/>
            <a:ext cx="5120640" cy="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7490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7D7D"/>
                </a:solidFill>
              </a:rPr>
              <a:t>1.3만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30936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인스타그램 팔로워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4736592"/>
            <a:ext cx="5120640" cy="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7548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7D7D"/>
                </a:solidFill>
              </a:rPr>
              <a:t>팬덤 구조화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309360" y="5303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디퍼 커뮤니티 연계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퍼플식스 스튜디오 브랜드관리팀  |  2025.09 – 현재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B2B 브랜드 0→1 — 리드 퍼널 전 단계 설계·운영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1338560" cy="5943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⚡ 배경  |  브랜드 인지도 제로에서 시작. 유튜브·뉴스레터·세미나를 연결하는 B2B 리드 퍼널을 6개월 내 구축하고 측정 가능한 파이프라인을 만들어야 했음.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28800"/>
            <a:ext cx="2606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28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OUTREACH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B2A4A"/>
                </a:solidFill>
              </a:rPr>
              <a:t>퍼플식스TV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B2A4A"/>
                </a:solidFill>
              </a:rPr>
              <a:t>유튜브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828800" cy="0"/>
          </a:xfrm>
          <a:prstGeom prst="line">
            <a:avLst/>
          </a:prstGeom>
          <a:noFill/>
          <a:ln w="10160">
            <a:solidFill>
              <a:srgbClr val="E8EC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56616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조회수 111만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구독자 6,782명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292608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96A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108960" y="182880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1828800"/>
            <a:ext cx="2606040" cy="502920"/>
          </a:xfrm>
          <a:prstGeom prst="rect">
            <a:avLst/>
          </a:prstGeom>
          <a:solidFill>
            <a:srgbClr val="3B4A9C"/>
          </a:solidFill>
          <a:ln w="12700">
            <a:solidFill>
              <a:srgbClr val="3B4A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828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LEAD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2423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B2A4A"/>
                </a:solidFill>
              </a:rPr>
              <a:t>홈페이지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B2A4A"/>
                </a:solidFill>
              </a:rPr>
              <a:t>+ SEO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0" y="3520440"/>
            <a:ext cx="1828800" cy="0"/>
          </a:xfrm>
          <a:prstGeom prst="line">
            <a:avLst/>
          </a:prstGeom>
          <a:noFill/>
          <a:ln w="10160">
            <a:solidFill>
              <a:srgbClr val="E8EC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356616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월 유입 1,000건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292608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96A8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943600" y="182880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1828800"/>
            <a:ext cx="260604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828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MQL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2423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B2A4A"/>
                </a:solidFill>
              </a:rPr>
              <a:t>뉴스레터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B2A4A"/>
                </a:solidFill>
              </a:rPr>
              <a:t>구독자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520440"/>
            <a:ext cx="1828800" cy="0"/>
          </a:xfrm>
          <a:prstGeom prst="line">
            <a:avLst/>
          </a:prstGeom>
          <a:noFill/>
          <a:ln w="10160">
            <a:solidFill>
              <a:srgbClr val="E8EC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56616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2,000명 확보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오픈율 25%+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49640" y="292608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96A8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778240" y="182880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0" y="1828800"/>
            <a:ext cx="260604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1828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B2A4A"/>
                </a:solidFill>
              </a:rPr>
              <a:t>SQL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778240" y="2423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B2A4A"/>
                </a:solidFill>
              </a:rPr>
              <a:t>오피스 세미나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B2A4A"/>
                </a:solidFill>
              </a:rPr>
              <a:t>+ 상담 신청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144000" y="3520440"/>
            <a:ext cx="1828800" cy="0"/>
          </a:xfrm>
          <a:prstGeom prst="line">
            <a:avLst/>
          </a:prstGeom>
          <a:noFill/>
          <a:ln w="10160">
            <a:solidFill>
              <a:srgbClr val="E8EC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356616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B2B 리드 400건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100개사 참여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5486400"/>
            <a:ext cx="113385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486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6개월 내 B2B 리드 400건  ·  유튜브 조회수 111만  ·  뉴스레터 MQL 2,000명  ·  홈페이지 월 유입 1,000건 안정화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9144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</a:rPr>
              <a:t>CORE COMPETENCIES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520440" cy="228600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🎯  브랜드 전략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브랜드 하우스 설계부터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캠페인 메시지 도출까지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전략 전 과정 직접 수행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60520" y="1097280"/>
            <a:ext cx="3520440" cy="228600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1887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📊  데이터·CRM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73736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Salesforce 도입 기획·운영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SEO·KPI 기반 성과 관리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리드 파이프라인 설계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097280"/>
            <a:ext cx="3520440" cy="228600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1887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🏢  공간 마케팅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173736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브랜드 스페이스 기획·운영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체험형 쇼룸·라운지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오프라인 팬덤 창출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3520440" cy="228600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490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📱  콘텐츠·채널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29768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유튜브·뉴스레터·SNS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인하우스 콘텐츠 전략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SEO 기반 오가닉 성장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60520" y="3657600"/>
            <a:ext cx="3520440" cy="228600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37490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🤝  B2B 마케팅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429768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리드젠 퍼널 설계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세미나·이벤트 운영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CRM 기반 인사이드 영업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0" y="3657600"/>
            <a:ext cx="3520440" cy="228600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7490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👥  팀 리더십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429768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마케팅팀 빌딩·운영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팀원 목표·성과 관리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CF4"/>
                </a:solidFill>
              </a:rPr>
              <a:t>전략-실행 연결 리더십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91440" y="2560320"/>
            <a:ext cx="365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THANK YOU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브랜드의 본질을</a:t>
            </a:r>
            <a:endParaRPr lang="en-US" sz="2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고객의 언어로 구체화하는</a:t>
            </a:r>
            <a:endParaRPr lang="en-US" sz="2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마케터, 유효영입니다.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0" y="4297680"/>
            <a:ext cx="7315200" cy="0"/>
          </a:xfrm>
          <a:prstGeom prst="line">
            <a:avLst/>
          </a:prstGeom>
          <a:noFill/>
          <a:ln w="10160">
            <a:solidFill>
              <a:srgbClr val="8896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4572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500"/>
                </a:solidFill>
              </a:rPr>
              <a:t>hyoyoungyoo@gmail.com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5029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8"/>
                </a:solidFill>
              </a:rPr>
              <a:t>010.3206.4306  |  서울 광진구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Marketing Director Portfolio 2016–2026</dc:subject>
  <dc:creator>유효영</dc:creator>
  <cp:lastModifiedBy>유효영</cp:lastModifiedBy>
  <cp:revision>1</cp:revision>
  <dcterms:created xsi:type="dcterms:W3CDTF">2026-04-10T01:39:24Z</dcterms:created>
  <dcterms:modified xsi:type="dcterms:W3CDTF">2026-04-10T01:39:24Z</dcterms:modified>
</cp:coreProperties>
</file>